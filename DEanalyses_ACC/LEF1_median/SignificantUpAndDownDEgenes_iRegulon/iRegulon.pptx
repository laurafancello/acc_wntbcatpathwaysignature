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9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D1F1D-33FF-475E-BEAA-54E5FDE4F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C187F9-160C-4FE1-B0C2-0D98327FA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2C2C46-2E6E-4292-825B-00CB2C7D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F43A5B-BDAB-49BE-9092-4C586643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EA10DC-3F44-4CD2-AB37-CC687AE4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7300C-356A-4D3D-9A1F-ADC93F2A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CF2B12-C812-449D-87FE-B07920F60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99138E-A79C-48F3-8A49-D52831A98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D42A7D1-A387-4A94-9E73-E8F324FA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726C8B-14C7-4DD6-88A1-6B5DC14E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5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2E4519-C49C-4F68-8E1C-FE392EC1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5A15F4-4AED-47AC-A14B-5BB755F5B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6FE685-20D4-4A53-A7CD-8177C2833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4854BC-C5DF-42CA-9E50-37CB40744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347B19-0D82-48D0-A58A-3BACBC2A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8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6A616F-3BAB-460E-897D-D246493A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EDFC1-7748-4D57-9EC5-F6AF02D25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23B972-29CE-4E66-A9CF-65CE02FBD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05D5FE-35E2-48D3-8C18-D69B6115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CDFD65-C637-4329-8C8F-4931C71B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2FCB52-F76B-43B2-9248-9A90A6B0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7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2DBF5E-A3E7-44ED-B5B0-84907061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AFB9FB-DD3D-44EC-B706-84ED19758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A5CEAE-86B2-4943-9157-84F21A91E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166CA5-812E-4819-B4A6-205846563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45CDBF-F8AB-455E-BF66-41C811C04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966E70-6BA6-436C-900E-559AFBA3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1147D1-51AC-4764-9484-95D73DBE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C07B718-8BE6-461A-9A96-60107073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56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3DCEB4-4E12-49A6-9B64-7F67B846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4FFD87E-0002-486E-8194-E3C509E44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E73A91E-B801-45AD-95EE-66C067A4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08787D2-A5B8-43A4-ACA7-33119880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2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0CAB392-DA43-4F1E-8606-BCC821D8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018C85E-E564-41DF-8AD1-BA622150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40107A4-1BDC-4B51-963F-B4539EFE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1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2B99A6-F8D2-430E-8E0C-9A97B0A7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7BA1B8-63C8-4F7C-B8DB-6E585C51C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1C21E9-4965-43CC-BFC2-9674580C3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059229-D065-48BF-8505-52001A1C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2D19DD4-2167-46C6-9D2F-21008316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759D72-8DA6-410A-9DFC-1BDC979CF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06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26B063-B5A7-4332-86D8-DEA95CEE9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DD651DA-99EA-4E0F-942F-5127B0764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467121-CDE1-4201-96F0-056E7635C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CF5CEB-5213-4F72-9096-D27BF37A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D1632E-052F-4036-9230-BC454D73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AA8235A-9686-44FA-BE35-F25E5A3E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3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29457D-244A-4A67-8A7E-9DBA819D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7C4984-5E7E-4EB9-9426-1E09F8EE8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0200A5-9CBB-4052-BD2F-44A5BB37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FFA2C1-278E-4CB7-BC04-2124ADFF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950C06-E9DE-492A-851D-F0D19681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9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0BEB9EB-BA4D-40DF-838F-396728ACE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771CC73-3579-4E63-9CDE-5C8F56D0A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F6DBA2-D1FC-48FA-9D04-4EC3187D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0B1DEC-BBC5-472B-AE32-6A542647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11357F-734D-4CA8-A6E3-74960A4F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06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14CC567-93DC-4029-ADB1-42854F440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27EEFD-8B33-4E7F-855E-DCF374D09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1BEC4D-02D3-42F4-BEEA-52FA99959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C15A-B50A-4B73-AEB2-2EC9FBDE9890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80F2E8-BFFD-4647-A2D0-4212386CA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25FE01-3EC5-4FC7-B842-63C64146D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7466B-B5BD-43D3-A595-00B09073081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3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E997E1F-F9CF-4AA4-8119-BCC814361D1F}"/>
              </a:ext>
            </a:extLst>
          </p:cNvPr>
          <p:cNvSpPr txBox="1"/>
          <p:nvPr/>
        </p:nvSpPr>
        <p:spPr>
          <a:xfrm>
            <a:off x="8092" y="-73764"/>
            <a:ext cx="2290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Assie LEF1 </a:t>
            </a:r>
            <a:r>
              <a:rPr lang="fr-FR" sz="1200" dirty="0" err="1"/>
              <a:t>median</a:t>
            </a:r>
            <a:endParaRPr lang="en-US" sz="12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DCA31CA-92A7-40E9-AAE8-1301AD11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" y="148215"/>
            <a:ext cx="6183398" cy="1672493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4E1371B7-AB4B-493B-926C-37A363C6C6F2}"/>
              </a:ext>
            </a:extLst>
          </p:cNvPr>
          <p:cNvGrpSpPr/>
          <p:nvPr/>
        </p:nvGrpSpPr>
        <p:grpSpPr>
          <a:xfrm>
            <a:off x="8092" y="1875296"/>
            <a:ext cx="6186951" cy="2485393"/>
            <a:chOff x="8092" y="2305093"/>
            <a:chExt cx="6186951" cy="2485393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97DAE37E-A3CF-4E38-B860-2ACCA27E3BE1}"/>
                </a:ext>
              </a:extLst>
            </p:cNvPr>
            <p:cNvSpPr txBox="1"/>
            <p:nvPr/>
          </p:nvSpPr>
          <p:spPr>
            <a:xfrm>
              <a:off x="8092" y="2305093"/>
              <a:ext cx="22900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err="1"/>
                <a:t>Heaton</a:t>
              </a:r>
              <a:r>
                <a:rPr lang="fr-FR" sz="1200" dirty="0"/>
                <a:t> LEF1 </a:t>
              </a:r>
              <a:r>
                <a:rPr lang="fr-FR" sz="1200" dirty="0" err="1"/>
                <a:t>median</a:t>
              </a:r>
              <a:endParaRPr lang="en-US" sz="1200" dirty="0"/>
            </a:p>
          </p:txBody>
        </p:sp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B5CC8E24-5CDF-430F-A114-817B42EDC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44" y="2522758"/>
              <a:ext cx="6167899" cy="2267728"/>
            </a:xfrm>
            <a:prstGeom prst="rect">
              <a:avLst/>
            </a:prstGeom>
          </p:spPr>
        </p:pic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6200C508-D41B-45BD-8D10-6D257D227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44" y="4852361"/>
            <a:ext cx="6326064" cy="1820707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03C505A-C9F8-4245-A0A3-674777C821B8}"/>
              </a:ext>
            </a:extLst>
          </p:cNvPr>
          <p:cNvSpPr txBox="1"/>
          <p:nvPr/>
        </p:nvSpPr>
        <p:spPr>
          <a:xfrm>
            <a:off x="0" y="4632942"/>
            <a:ext cx="2290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TCGA LEF1 </a:t>
            </a:r>
            <a:r>
              <a:rPr lang="fr-FR" sz="1200" dirty="0" err="1"/>
              <a:t>median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34988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424DE3C7-D310-49A3-9CBE-679AD45EDF16}"/>
              </a:ext>
            </a:extLst>
          </p:cNvPr>
          <p:cNvGrpSpPr/>
          <p:nvPr/>
        </p:nvGrpSpPr>
        <p:grpSpPr>
          <a:xfrm>
            <a:off x="-16183" y="-12764"/>
            <a:ext cx="7218096" cy="2027681"/>
            <a:chOff x="-16183" y="-12764"/>
            <a:chExt cx="7218096" cy="2027681"/>
          </a:xfrm>
        </p:grpSpPr>
        <p:grpSp>
          <p:nvGrpSpPr>
            <p:cNvPr id="4" name="Groupe 3">
              <a:extLst>
                <a:ext uri="{FF2B5EF4-FFF2-40B4-BE49-F238E27FC236}">
                  <a16:creationId xmlns:a16="http://schemas.microsoft.com/office/drawing/2014/main" id="{997C52E3-C9A3-45C0-A68E-EA37405B3D8D}"/>
                </a:ext>
              </a:extLst>
            </p:cNvPr>
            <p:cNvGrpSpPr/>
            <p:nvPr/>
          </p:nvGrpSpPr>
          <p:grpSpPr>
            <a:xfrm>
              <a:off x="-16183" y="-12764"/>
              <a:ext cx="7218096" cy="2027681"/>
              <a:chOff x="-16184" y="-12764"/>
              <a:chExt cx="8542249" cy="2149844"/>
            </a:xfrm>
          </p:grpSpPr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E997E1F-F9CF-4AA4-8119-BCC814361D1F}"/>
                  </a:ext>
                </a:extLst>
              </p:cNvPr>
              <p:cNvSpPr txBox="1"/>
              <p:nvPr/>
            </p:nvSpPr>
            <p:spPr>
              <a:xfrm>
                <a:off x="-16184" y="-12764"/>
                <a:ext cx="22900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/>
                  <a:t>Assie signature </a:t>
                </a:r>
                <a:r>
                  <a:rPr lang="fr-FR" sz="1200" dirty="0" err="1"/>
                  <a:t>median</a:t>
                </a:r>
                <a:endParaRPr lang="en-US" sz="1200" dirty="0"/>
              </a:p>
            </p:txBody>
          </p:sp>
          <p:pic>
            <p:nvPicPr>
              <p:cNvPr id="3" name="Image 2">
                <a:extLst>
                  <a:ext uri="{FF2B5EF4-FFF2-40B4-BE49-F238E27FC236}">
                    <a16:creationId xmlns:a16="http://schemas.microsoft.com/office/drawing/2014/main" id="{36A0DABC-2E90-47A6-A9ED-E01690B08E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203235"/>
                <a:ext cx="8526065" cy="1933845"/>
              </a:xfrm>
              <a:prstGeom prst="rect">
                <a:avLst/>
              </a:prstGeom>
            </p:spPr>
          </p:pic>
        </p:grp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29BD2084-9614-4958-9E78-EA5665E4CDFC}"/>
                </a:ext>
              </a:extLst>
            </p:cNvPr>
            <p:cNvSpPr txBox="1"/>
            <p:nvPr/>
          </p:nvSpPr>
          <p:spPr>
            <a:xfrm>
              <a:off x="540819" y="1109429"/>
              <a:ext cx="22900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/>
                <a:t>TCF7L1</a:t>
              </a:r>
              <a:endParaRPr lang="en-US" sz="1050" dirty="0"/>
            </a:p>
          </p:txBody>
        </p:sp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9E35759D-ABBB-4C0D-A0E2-3FDB69DA6F17}"/>
              </a:ext>
            </a:extLst>
          </p:cNvPr>
          <p:cNvSpPr txBox="1"/>
          <p:nvPr/>
        </p:nvSpPr>
        <p:spPr>
          <a:xfrm>
            <a:off x="8731306" y="700970"/>
            <a:ext cx="33905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In the transcription factor </a:t>
            </a:r>
            <a:r>
              <a:rPr lang="fr-FR" sz="1050" dirty="0" err="1"/>
              <a:t>view</a:t>
            </a:r>
            <a:r>
              <a:rPr lang="fr-FR" sz="1050" dirty="0"/>
              <a:t> of iRegulon output, for </a:t>
            </a:r>
            <a:r>
              <a:rPr lang="fr-FR" sz="1050" dirty="0" err="1"/>
              <a:t>each</a:t>
            </a:r>
            <a:r>
              <a:rPr lang="fr-FR" sz="1050" dirty="0"/>
              <a:t> group of transcription </a:t>
            </a:r>
            <a:r>
              <a:rPr lang="fr-FR" sz="1050" dirty="0" err="1"/>
              <a:t>factors</a:t>
            </a:r>
            <a:r>
              <a:rPr lang="fr-FR" sz="1050" dirty="0"/>
              <a:t> able to </a:t>
            </a:r>
            <a:r>
              <a:rPr lang="fr-FR" sz="1050" dirty="0" err="1"/>
              <a:t>recognize</a:t>
            </a:r>
            <a:r>
              <a:rPr lang="fr-FR" sz="1050" dirty="0"/>
              <a:t> the </a:t>
            </a:r>
            <a:r>
              <a:rPr lang="fr-FR" sz="1050" dirty="0" err="1"/>
              <a:t>enriched</a:t>
            </a:r>
            <a:r>
              <a:rPr lang="fr-FR" sz="1050" dirty="0"/>
              <a:t> TFBS(s) </a:t>
            </a:r>
            <a:r>
              <a:rPr lang="fr-FR" sz="1050" dirty="0" err="1"/>
              <a:t>identified</a:t>
            </a:r>
            <a:r>
              <a:rPr lang="fr-FR" sz="1050" dirty="0"/>
              <a:t> by iRegulon  </a:t>
            </a:r>
            <a:r>
              <a:rPr lang="fr-FR" sz="1050" dirty="0" err="1"/>
              <a:t>only</a:t>
            </a:r>
            <a:r>
              <a:rPr lang="fr-FR" sz="1050" dirty="0"/>
              <a:t> one </a:t>
            </a:r>
            <a:r>
              <a:rPr lang="fr-FR" sz="1050" dirty="0" err="1"/>
              <a:t>random</a:t>
            </a:r>
            <a:r>
              <a:rPr lang="fr-FR" sz="1050" dirty="0"/>
              <a:t> </a:t>
            </a:r>
            <a:r>
              <a:rPr lang="fr-FR" sz="1050" dirty="0" err="1"/>
              <a:t>representative</a:t>
            </a:r>
            <a:r>
              <a:rPr lang="fr-FR" sz="1050" dirty="0"/>
              <a:t> </a:t>
            </a:r>
            <a:r>
              <a:rPr lang="fr-FR" sz="1050" dirty="0" err="1"/>
              <a:t>is</a:t>
            </a:r>
            <a:r>
              <a:rPr lang="fr-FR" sz="1050" dirty="0"/>
              <a:t> </a:t>
            </a:r>
            <a:r>
              <a:rPr lang="fr-FR" sz="1050" dirty="0" err="1"/>
              <a:t>shown</a:t>
            </a:r>
            <a:r>
              <a:rPr lang="fr-FR" sz="1050" dirty="0"/>
              <a:t>.</a:t>
            </a:r>
          </a:p>
          <a:p>
            <a:r>
              <a:rPr lang="fr-FR" sz="1050" dirty="0"/>
              <a:t>This </a:t>
            </a:r>
            <a:r>
              <a:rPr lang="fr-FR" sz="1050" dirty="0" err="1"/>
              <a:t>is</a:t>
            </a:r>
            <a:r>
              <a:rPr lang="fr-FR" sz="1050" dirty="0"/>
              <a:t> </a:t>
            </a:r>
            <a:r>
              <a:rPr lang="fr-FR" sz="1050" dirty="0" err="1"/>
              <a:t>why</a:t>
            </a:r>
            <a:r>
              <a:rPr lang="fr-FR" sz="1050" dirty="0"/>
              <a:t> I </a:t>
            </a:r>
            <a:r>
              <a:rPr lang="fr-FR" sz="1050" dirty="0" err="1"/>
              <a:t>added</a:t>
            </a:r>
            <a:r>
              <a:rPr lang="fr-FR" sz="1050" dirty="0"/>
              <a:t> </a:t>
            </a:r>
            <a:r>
              <a:rPr lang="fr-FR" sz="1050" dirty="0" err="1"/>
              <a:t>manually</a:t>
            </a:r>
            <a:r>
              <a:rPr lang="fr-FR" sz="1050" dirty="0"/>
              <a:t> the TF of </a:t>
            </a:r>
            <a:r>
              <a:rPr lang="fr-FR" sz="1050" dirty="0" err="1"/>
              <a:t>interest</a:t>
            </a:r>
            <a:r>
              <a:rPr lang="fr-FR" sz="1050" dirty="0"/>
              <a:t> TCF7L1 in the group of </a:t>
            </a:r>
            <a:r>
              <a:rPr lang="fr-FR" sz="1050" dirty="0" err="1"/>
              <a:t>TFs</a:t>
            </a:r>
            <a:r>
              <a:rPr lang="fr-FR" sz="1050" dirty="0"/>
              <a:t> </a:t>
            </a:r>
            <a:r>
              <a:rPr lang="fr-FR" sz="1050" dirty="0" err="1"/>
              <a:t>where</a:t>
            </a:r>
            <a:r>
              <a:rPr lang="fr-FR" sz="1050" dirty="0"/>
              <a:t> PBX3 </a:t>
            </a:r>
            <a:r>
              <a:rPr lang="fr-FR" sz="1050" dirty="0" err="1"/>
              <a:t>is</a:t>
            </a:r>
            <a:r>
              <a:rPr lang="fr-FR" sz="1050" dirty="0"/>
              <a:t>.</a:t>
            </a:r>
            <a:endParaRPr lang="en-US" sz="1050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45EA565E-A4F2-4548-B40D-3A776B7A1EEE}"/>
              </a:ext>
            </a:extLst>
          </p:cNvPr>
          <p:cNvGrpSpPr/>
          <p:nvPr/>
        </p:nvGrpSpPr>
        <p:grpSpPr>
          <a:xfrm>
            <a:off x="0" y="2337428"/>
            <a:ext cx="7136636" cy="2116287"/>
            <a:chOff x="0" y="2337428"/>
            <a:chExt cx="7136636" cy="2116287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8F622845-D5A3-4251-AAF8-E969402ACBB4}"/>
                </a:ext>
              </a:extLst>
            </p:cNvPr>
            <p:cNvSpPr txBox="1"/>
            <p:nvPr/>
          </p:nvSpPr>
          <p:spPr>
            <a:xfrm>
              <a:off x="0" y="2337428"/>
              <a:ext cx="22900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 err="1"/>
                <a:t>Heaton</a:t>
              </a:r>
              <a:r>
                <a:rPr lang="fr-FR" sz="1200" dirty="0"/>
                <a:t> signature </a:t>
              </a:r>
              <a:r>
                <a:rPr lang="fr-FR" sz="1200" dirty="0" err="1"/>
                <a:t>median</a:t>
              </a:r>
              <a:endParaRPr lang="en-US" sz="1200" dirty="0"/>
            </a:p>
          </p:txBody>
        </p: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0DBDA3D6-7D9A-48B4-9A16-C15FEE175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580136"/>
              <a:ext cx="7136636" cy="1873579"/>
            </a:xfrm>
            <a:prstGeom prst="rect">
              <a:avLst/>
            </a:prstGeom>
          </p:spPr>
        </p:pic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2CB3DE94-15A1-4C7A-B2BD-35BAA71C7B2A}"/>
              </a:ext>
            </a:extLst>
          </p:cNvPr>
          <p:cNvGrpSpPr/>
          <p:nvPr/>
        </p:nvGrpSpPr>
        <p:grpSpPr>
          <a:xfrm>
            <a:off x="-16184" y="4632942"/>
            <a:ext cx="7212735" cy="1233784"/>
            <a:chOff x="-16184" y="4632942"/>
            <a:chExt cx="7212735" cy="1233784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803C505A-C9F8-4245-A0A3-674777C821B8}"/>
                </a:ext>
              </a:extLst>
            </p:cNvPr>
            <p:cNvSpPr txBox="1"/>
            <p:nvPr/>
          </p:nvSpPr>
          <p:spPr>
            <a:xfrm>
              <a:off x="-16184" y="4632942"/>
              <a:ext cx="22900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TCGA signature </a:t>
              </a:r>
              <a:r>
                <a:rPr lang="fr-FR" sz="1200" dirty="0" err="1"/>
                <a:t>median</a:t>
              </a:r>
              <a:endParaRPr lang="en-US" sz="1200" dirty="0"/>
            </a:p>
          </p:txBody>
        </p: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3C656C9F-E398-482A-B57B-6EBD21113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507" y="4843084"/>
              <a:ext cx="7199058" cy="1023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70056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73</Words>
  <Application>Microsoft Office PowerPoint</Application>
  <PresentationFormat>Grand écran</PresentationFormat>
  <Paragraphs>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FANCELLO Laura</dc:creator>
  <cp:lastModifiedBy>FANCELLO Laura</cp:lastModifiedBy>
  <cp:revision>9</cp:revision>
  <dcterms:created xsi:type="dcterms:W3CDTF">2025-11-20T08:21:45Z</dcterms:created>
  <dcterms:modified xsi:type="dcterms:W3CDTF">2025-11-20T10:37:39Z</dcterms:modified>
</cp:coreProperties>
</file>